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uce Light" charset="1" panose="00000400000000000000"/>
      <p:regular r:id="rId16"/>
    </p:embeddedFont>
    <p:embeddedFont>
      <p:font typeface="Open Sauce" charset="1" panose="00000500000000000000"/>
      <p:regular r:id="rId17"/>
    </p:embeddedFont>
    <p:embeddedFont>
      <p:font typeface="Open Sauce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6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0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8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76821" y="-6822586"/>
            <a:ext cx="5976857" cy="24903572"/>
          </a:xfrm>
          <a:custGeom>
            <a:avLst/>
            <a:gdLst/>
            <a:ahLst/>
            <a:cxnLst/>
            <a:rect r="r" b="b" t="t" l="l"/>
            <a:pathLst>
              <a:path h="24903572" w="5976857">
                <a:moveTo>
                  <a:pt x="0" y="0"/>
                </a:moveTo>
                <a:lnTo>
                  <a:pt x="5976857" y="0"/>
                </a:lnTo>
                <a:lnTo>
                  <a:pt x="5976857" y="24903572"/>
                </a:lnTo>
                <a:lnTo>
                  <a:pt x="0" y="24903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80493" y="1028700"/>
            <a:ext cx="5206732" cy="545881"/>
            <a:chOff x="0" y="0"/>
            <a:chExt cx="6942309" cy="7278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4196" cy="727842"/>
            </a:xfrm>
            <a:custGeom>
              <a:avLst/>
              <a:gdLst/>
              <a:ahLst/>
              <a:cxnLst/>
              <a:rect r="r" b="b" t="t" l="l"/>
              <a:pathLst>
                <a:path h="727842" w="504196">
                  <a:moveTo>
                    <a:pt x="0" y="0"/>
                  </a:moveTo>
                  <a:lnTo>
                    <a:pt x="504196" y="0"/>
                  </a:lnTo>
                  <a:lnTo>
                    <a:pt x="504196" y="727842"/>
                  </a:lnTo>
                  <a:lnTo>
                    <a:pt x="0" y="727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890252" y="77536"/>
              <a:ext cx="6052057" cy="525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7"/>
                </a:lnSpc>
              </a:pPr>
              <a:r>
                <a:rPr lang="en-US" sz="2398" spc="304">
                  <a:solidFill>
                    <a:srgbClr val="F2FFF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CSE DEPARTMENT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80493" y="3431939"/>
            <a:ext cx="9617459" cy="291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241"/>
              </a:lnSpc>
            </a:pPr>
            <a:r>
              <a:rPr lang="en-US" sz="10914">
                <a:solidFill>
                  <a:srgbClr val="F2FFF9"/>
                </a:solidFill>
                <a:latin typeface="Open Sauce"/>
                <a:ea typeface="Open Sauce"/>
                <a:cs typeface="Open Sauce"/>
                <a:sym typeface="Open Sauce"/>
              </a:rPr>
              <a:t>EXPENSE SHARING APP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0493" y="6400885"/>
            <a:ext cx="8857175" cy="82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</a:pPr>
            <a:r>
              <a:rPr lang="en-US" sz="2398" spc="100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Front End Development Frameworks for Web Applications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10944" y="8454458"/>
            <a:ext cx="2641682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 spc="75">
                <a:solidFill>
                  <a:srgbClr val="56D5A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Project Lead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74310" y="8454458"/>
            <a:ext cx="2641682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 spc="75">
                <a:solidFill>
                  <a:srgbClr val="56D5A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Team Members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10944" y="8852535"/>
            <a:ext cx="2641682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</a:pPr>
            <a:r>
              <a:rPr lang="en-US" sz="2398" spc="100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Badiya Murali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74310" y="8852535"/>
            <a:ext cx="2641682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</a:pPr>
            <a:r>
              <a:rPr lang="en-US" sz="2398" spc="100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To be updated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0493" y="1028700"/>
            <a:ext cx="5206732" cy="545881"/>
            <a:chOff x="0" y="0"/>
            <a:chExt cx="6942309" cy="7278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4196" cy="727842"/>
            </a:xfrm>
            <a:custGeom>
              <a:avLst/>
              <a:gdLst/>
              <a:ahLst/>
              <a:cxnLst/>
              <a:rect r="r" b="b" t="t" l="l"/>
              <a:pathLst>
                <a:path h="727842" w="504196">
                  <a:moveTo>
                    <a:pt x="0" y="0"/>
                  </a:moveTo>
                  <a:lnTo>
                    <a:pt x="504196" y="0"/>
                  </a:lnTo>
                  <a:lnTo>
                    <a:pt x="504196" y="727842"/>
                  </a:lnTo>
                  <a:lnTo>
                    <a:pt x="0" y="727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890252" y="77536"/>
              <a:ext cx="6052057" cy="525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7"/>
                </a:lnSpc>
              </a:pPr>
              <a:r>
                <a:rPr lang="en-US" sz="2398" spc="304">
                  <a:solidFill>
                    <a:srgbClr val="F2FFF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EXPENSE SHARING APP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729589" y="2774194"/>
            <a:ext cx="595203" cy="595203"/>
          </a:xfrm>
          <a:custGeom>
            <a:avLst/>
            <a:gdLst/>
            <a:ahLst/>
            <a:cxnLst/>
            <a:rect r="r" b="b" t="t" l="l"/>
            <a:pathLst>
              <a:path h="595203" w="595203">
                <a:moveTo>
                  <a:pt x="0" y="0"/>
                </a:moveTo>
                <a:lnTo>
                  <a:pt x="595203" y="0"/>
                </a:lnTo>
                <a:lnTo>
                  <a:pt x="595203" y="595203"/>
                </a:lnTo>
                <a:lnTo>
                  <a:pt x="0" y="595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29589" y="4231390"/>
            <a:ext cx="595203" cy="595203"/>
          </a:xfrm>
          <a:custGeom>
            <a:avLst/>
            <a:gdLst/>
            <a:ahLst/>
            <a:cxnLst/>
            <a:rect r="r" b="b" t="t" l="l"/>
            <a:pathLst>
              <a:path h="595203" w="595203">
                <a:moveTo>
                  <a:pt x="0" y="0"/>
                </a:moveTo>
                <a:lnTo>
                  <a:pt x="595203" y="0"/>
                </a:lnTo>
                <a:lnTo>
                  <a:pt x="595203" y="595203"/>
                </a:lnTo>
                <a:lnTo>
                  <a:pt x="0" y="595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9039713" y="5986187"/>
            <a:ext cx="1198905" cy="1198905"/>
          </a:xfrm>
          <a:custGeom>
            <a:avLst/>
            <a:gdLst/>
            <a:ahLst/>
            <a:cxnLst/>
            <a:rect r="r" b="b" t="t" l="l"/>
            <a:pathLst>
              <a:path h="1198905" w="1198905">
                <a:moveTo>
                  <a:pt x="0" y="0"/>
                </a:moveTo>
                <a:lnTo>
                  <a:pt x="1198905" y="0"/>
                </a:lnTo>
                <a:lnTo>
                  <a:pt x="1198905" y="1198904"/>
                </a:lnTo>
                <a:lnTo>
                  <a:pt x="0" y="11989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80493" y="3995061"/>
            <a:ext cx="9496055" cy="243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09"/>
              </a:lnSpc>
            </a:pPr>
            <a:r>
              <a:rPr lang="en-US" sz="9135">
                <a:solidFill>
                  <a:srgbClr val="F2FFF9"/>
                </a:solidFill>
                <a:latin typeface="Open Sauce"/>
                <a:ea typeface="Open Sauce"/>
                <a:cs typeface="Open Sauce"/>
                <a:sym typeface="Open Sauce"/>
              </a:rPr>
              <a:t>PROBLEM</a:t>
            </a:r>
          </a:p>
          <a:p>
            <a:pPr algn="l" marL="0" indent="0" lvl="0">
              <a:lnSpc>
                <a:spcPts val="9409"/>
              </a:lnSpc>
            </a:pPr>
            <a:r>
              <a:rPr lang="en-US" sz="9135">
                <a:solidFill>
                  <a:srgbClr val="F2FFF9"/>
                </a:solidFill>
                <a:latin typeface="Open Sauce"/>
                <a:ea typeface="Open Sauce"/>
                <a:cs typeface="Open Sauce"/>
                <a:sym typeface="Open Sauce"/>
              </a:rPr>
              <a:t>STATEMENT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729589" y="5688585"/>
            <a:ext cx="595203" cy="595203"/>
          </a:xfrm>
          <a:custGeom>
            <a:avLst/>
            <a:gdLst/>
            <a:ahLst/>
            <a:cxnLst/>
            <a:rect r="r" b="b" t="t" l="l"/>
            <a:pathLst>
              <a:path h="595203" w="595203">
                <a:moveTo>
                  <a:pt x="0" y="0"/>
                </a:moveTo>
                <a:lnTo>
                  <a:pt x="595203" y="0"/>
                </a:lnTo>
                <a:lnTo>
                  <a:pt x="595203" y="595203"/>
                </a:lnTo>
                <a:lnTo>
                  <a:pt x="0" y="595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4006735" y="3511732"/>
            <a:ext cx="10274531" cy="18288000"/>
          </a:xfrm>
          <a:custGeom>
            <a:avLst/>
            <a:gdLst/>
            <a:ahLst/>
            <a:cxnLst/>
            <a:rect r="r" b="b" t="t" l="l"/>
            <a:pathLst>
              <a:path h="18288000" w="10274531">
                <a:moveTo>
                  <a:pt x="0" y="0"/>
                </a:moveTo>
                <a:lnTo>
                  <a:pt x="10274530" y="0"/>
                </a:lnTo>
                <a:lnTo>
                  <a:pt x="1027453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884153" y="6749139"/>
            <a:ext cx="3755013" cy="2509161"/>
            <a:chOff x="0" y="0"/>
            <a:chExt cx="1216373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6373" cy="812800"/>
            </a:xfrm>
            <a:custGeom>
              <a:avLst/>
              <a:gdLst/>
              <a:ahLst/>
              <a:cxnLst/>
              <a:rect r="r" b="b" t="t" l="l"/>
              <a:pathLst>
                <a:path h="812800" w="1216373">
                  <a:moveTo>
                    <a:pt x="0" y="0"/>
                  </a:moveTo>
                  <a:lnTo>
                    <a:pt x="1216373" y="0"/>
                  </a:lnTo>
                  <a:lnTo>
                    <a:pt x="121637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 l="0" t="-133" r="0" b="-13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776091" y="2594593"/>
            <a:ext cx="5174289" cy="78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62"/>
              </a:lnSpc>
            </a:pPr>
            <a:r>
              <a:rPr lang="en-US" sz="1544" spc="64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Manual calculations lead to errors and disputes — splitting bills among friends, roommates or colleagues is tedious and often inaccurate.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76091" y="4051789"/>
            <a:ext cx="5174289" cy="78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62"/>
              </a:lnSpc>
            </a:pPr>
            <a:r>
              <a:rPr lang="en-US" sz="1544" spc="64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Unclear payment responsibilities cause awkward follow-ups — no one knows exactly who owes whom, leading to forgotten debts and broken trust.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76091" y="5508984"/>
            <a:ext cx="5246558" cy="78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62"/>
              </a:lnSpc>
            </a:pPr>
            <a:r>
              <a:rPr lang="en-US" sz="1544" spc="64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No centralized tracking means shared expenses are scattered across chats, notes and memory — making reconciliation chaotic and time-consuming.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28192" y="2670793"/>
            <a:ext cx="3501396" cy="1037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5"/>
              </a:lnSpc>
            </a:pPr>
            <a:r>
              <a:rPr lang="en-US" sz="2646">
                <a:solidFill>
                  <a:srgbClr val="F2F99E"/>
                </a:solidFill>
                <a:latin typeface="Open Sauce"/>
                <a:ea typeface="Open Sauce"/>
                <a:cs typeface="Open Sauce"/>
                <a:sym typeface="Open Sauce"/>
              </a:rPr>
              <a:t>CHALLENGES</a:t>
            </a:r>
          </a:p>
          <a:p>
            <a:pPr algn="l" marL="0" indent="0" lvl="0">
              <a:lnSpc>
                <a:spcPts val="2725"/>
              </a:lnSpc>
            </a:pPr>
            <a:r>
              <a:rPr lang="en-US" sz="2646">
                <a:solidFill>
                  <a:srgbClr val="F2F99E"/>
                </a:solidFill>
                <a:latin typeface="Open Sauce"/>
                <a:ea typeface="Open Sauce"/>
                <a:cs typeface="Open Sauce"/>
                <a:sym typeface="Open Sauce"/>
              </a:rPr>
              <a:t>IN SHARED EXPENSES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0493" y="1028700"/>
            <a:ext cx="5206732" cy="545881"/>
            <a:chOff x="0" y="0"/>
            <a:chExt cx="6942309" cy="7278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4196" cy="727842"/>
            </a:xfrm>
            <a:custGeom>
              <a:avLst/>
              <a:gdLst/>
              <a:ahLst/>
              <a:cxnLst/>
              <a:rect r="r" b="b" t="t" l="l"/>
              <a:pathLst>
                <a:path h="727842" w="504196">
                  <a:moveTo>
                    <a:pt x="0" y="0"/>
                  </a:moveTo>
                  <a:lnTo>
                    <a:pt x="504196" y="0"/>
                  </a:lnTo>
                  <a:lnTo>
                    <a:pt x="504196" y="727842"/>
                  </a:lnTo>
                  <a:lnTo>
                    <a:pt x="0" y="727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890252" y="87061"/>
              <a:ext cx="6052057" cy="505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69"/>
                </a:lnSpc>
              </a:pPr>
              <a:r>
                <a:rPr lang="en-US" sz="2335" spc="296">
                  <a:solidFill>
                    <a:srgbClr val="F2FFF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EXPENSE SHARING APP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80493" y="3686009"/>
            <a:ext cx="8300743" cy="2439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16"/>
              </a:lnSpc>
            </a:pPr>
            <a:r>
              <a:rPr lang="en-US" sz="9142">
                <a:solidFill>
                  <a:srgbClr val="F2FFF9"/>
                </a:solidFill>
                <a:latin typeface="Open Sauce"/>
                <a:ea typeface="Open Sauce"/>
                <a:cs typeface="Open Sauce"/>
                <a:sym typeface="Open Sauce"/>
              </a:rPr>
              <a:t>PROJECT</a:t>
            </a:r>
          </a:p>
          <a:p>
            <a:pPr algn="l" marL="0" indent="0" lvl="0">
              <a:lnSpc>
                <a:spcPts val="9416"/>
              </a:lnSpc>
            </a:pPr>
            <a:r>
              <a:rPr lang="en-US" sz="9142">
                <a:solidFill>
                  <a:srgbClr val="F2FFF9"/>
                </a:solidFill>
                <a:latin typeface="Open Sauce"/>
                <a:ea typeface="Open Sauce"/>
                <a:cs typeface="Open Sauce"/>
                <a:sym typeface="Open Sauce"/>
              </a:rPr>
              <a:t>OBJECTIVES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961392" y="2350654"/>
            <a:ext cx="7297908" cy="1947547"/>
            <a:chOff x="0" y="0"/>
            <a:chExt cx="9730544" cy="2596730"/>
          </a:xfrm>
        </p:grpSpPr>
        <p:sp>
          <p:nvSpPr>
            <p:cNvPr name="Freeform 7" id="7"/>
            <p:cNvSpPr/>
            <p:nvPr/>
          </p:nvSpPr>
          <p:spPr>
            <a:xfrm flipH="false" flipV="false" rot="5400000">
              <a:off x="0" y="0"/>
              <a:ext cx="2596730" cy="2596730"/>
            </a:xfrm>
            <a:custGeom>
              <a:avLst/>
              <a:gdLst/>
              <a:ahLst/>
              <a:cxnLst/>
              <a:rect r="r" b="b" t="t" l="l"/>
              <a:pathLst>
                <a:path h="2596730" w="2596730">
                  <a:moveTo>
                    <a:pt x="0" y="0"/>
                  </a:moveTo>
                  <a:lnTo>
                    <a:pt x="2596730" y="0"/>
                  </a:lnTo>
                  <a:lnTo>
                    <a:pt x="2596730" y="2596730"/>
                  </a:lnTo>
                  <a:lnTo>
                    <a:pt x="0" y="2596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846599" y="645914"/>
              <a:ext cx="903531" cy="1304901"/>
            </a:xfrm>
            <a:custGeom>
              <a:avLst/>
              <a:gdLst/>
              <a:ahLst/>
              <a:cxnLst/>
              <a:rect r="r" b="b" t="t" l="l"/>
              <a:pathLst>
                <a:path h="1304901" w="903531">
                  <a:moveTo>
                    <a:pt x="0" y="0"/>
                  </a:moveTo>
                  <a:lnTo>
                    <a:pt x="903531" y="0"/>
                  </a:lnTo>
                  <a:lnTo>
                    <a:pt x="903531" y="1304901"/>
                  </a:lnTo>
                  <a:lnTo>
                    <a:pt x="0" y="130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890958" y="996004"/>
              <a:ext cx="6518899" cy="1594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452"/>
                </a:lnSpc>
              </a:pPr>
              <a:r>
                <a:rPr lang="en-US" sz="1751" spc="73">
                  <a:solidFill>
                    <a:srgbClr val="F2FFF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Enable users to log shared expenses instantly and split costs equally or by custom ratios — with zero manual calculation required.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890958" y="282130"/>
              <a:ext cx="6839586" cy="9223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4"/>
                </a:lnSpc>
              </a:pPr>
              <a:r>
                <a:rPr lang="en-US" sz="2576">
                  <a:solidFill>
                    <a:srgbClr val="F2F99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SIMPLIFY EXPENSE ENTRY &amp; SPLITTING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61392" y="4456987"/>
            <a:ext cx="7297908" cy="1947547"/>
            <a:chOff x="0" y="0"/>
            <a:chExt cx="9730544" cy="2596730"/>
          </a:xfrm>
        </p:grpSpPr>
        <p:sp>
          <p:nvSpPr>
            <p:cNvPr name="Freeform 12" id="12"/>
            <p:cNvSpPr/>
            <p:nvPr/>
          </p:nvSpPr>
          <p:spPr>
            <a:xfrm flipH="false" flipV="false" rot="5400000">
              <a:off x="0" y="0"/>
              <a:ext cx="2596730" cy="2596730"/>
            </a:xfrm>
            <a:custGeom>
              <a:avLst/>
              <a:gdLst/>
              <a:ahLst/>
              <a:cxnLst/>
              <a:rect r="r" b="b" t="t" l="l"/>
              <a:pathLst>
                <a:path h="2596730" w="2596730">
                  <a:moveTo>
                    <a:pt x="0" y="0"/>
                  </a:moveTo>
                  <a:lnTo>
                    <a:pt x="2596730" y="0"/>
                  </a:lnTo>
                  <a:lnTo>
                    <a:pt x="2596730" y="2596730"/>
                  </a:lnTo>
                  <a:lnTo>
                    <a:pt x="0" y="2596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890958" y="996004"/>
              <a:ext cx="6518899" cy="1594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452"/>
                </a:lnSpc>
              </a:pPr>
              <a:r>
                <a:rPr lang="en-US" sz="1751" spc="73">
                  <a:solidFill>
                    <a:srgbClr val="F2FFF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Provide a clean, real-time dashboard showing who owes whom, with intuitive charts and color-coded balance indicators at a glance.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890958" y="282130"/>
              <a:ext cx="6839586" cy="474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4"/>
                </a:lnSpc>
              </a:pPr>
              <a:r>
                <a:rPr lang="en-US" sz="2576">
                  <a:solidFill>
                    <a:srgbClr val="F2F99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VISUAL BALANCE SUMMARY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764778" y="716320"/>
              <a:ext cx="1178345" cy="1164091"/>
            </a:xfrm>
            <a:custGeom>
              <a:avLst/>
              <a:gdLst/>
              <a:ahLst/>
              <a:cxnLst/>
              <a:rect r="r" b="b" t="t" l="l"/>
              <a:pathLst>
                <a:path h="1164091" w="1178345">
                  <a:moveTo>
                    <a:pt x="0" y="0"/>
                  </a:moveTo>
                  <a:lnTo>
                    <a:pt x="1178345" y="0"/>
                  </a:lnTo>
                  <a:lnTo>
                    <a:pt x="1178345" y="1164090"/>
                  </a:lnTo>
                  <a:lnTo>
                    <a:pt x="0" y="1164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990493" y="6563319"/>
            <a:ext cx="7297908" cy="2078053"/>
            <a:chOff x="0" y="0"/>
            <a:chExt cx="9730544" cy="2770738"/>
          </a:xfrm>
        </p:grpSpPr>
        <p:sp>
          <p:nvSpPr>
            <p:cNvPr name="Freeform 17" id="17"/>
            <p:cNvSpPr/>
            <p:nvPr/>
          </p:nvSpPr>
          <p:spPr>
            <a:xfrm flipH="false" flipV="false" rot="5400000">
              <a:off x="0" y="0"/>
              <a:ext cx="2596730" cy="2596730"/>
            </a:xfrm>
            <a:custGeom>
              <a:avLst/>
              <a:gdLst/>
              <a:ahLst/>
              <a:cxnLst/>
              <a:rect r="r" b="b" t="t" l="l"/>
              <a:pathLst>
                <a:path h="2596730" w="2596730">
                  <a:moveTo>
                    <a:pt x="0" y="0"/>
                  </a:moveTo>
                  <a:lnTo>
                    <a:pt x="2596730" y="0"/>
                  </a:lnTo>
                  <a:lnTo>
                    <a:pt x="2596730" y="2596730"/>
                  </a:lnTo>
                  <a:lnTo>
                    <a:pt x="0" y="2596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2890958" y="1175885"/>
              <a:ext cx="6518899" cy="1594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452"/>
                </a:lnSpc>
              </a:pPr>
              <a:r>
                <a:rPr lang="en-US" sz="1751" spc="73">
                  <a:solidFill>
                    <a:srgbClr val="F2FFF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Deliver a responsive, fast-loading web application with accessible UI components, consistent design language, and effortless navigation for all users.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890958" y="282130"/>
              <a:ext cx="6839586" cy="9223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4"/>
                </a:lnSpc>
              </a:pPr>
              <a:r>
                <a:rPr lang="en-US" sz="2576">
                  <a:solidFill>
                    <a:srgbClr val="F2F99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SMOOTH &amp; ACCESSIBLE WEB EXPERIENCE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801714" y="933996"/>
              <a:ext cx="1069197" cy="772027"/>
            </a:xfrm>
            <a:custGeom>
              <a:avLst/>
              <a:gdLst/>
              <a:ahLst/>
              <a:cxnLst/>
              <a:rect r="r" b="b" t="t" l="l"/>
              <a:pathLst>
                <a:path h="772027" w="1069197">
                  <a:moveTo>
                    <a:pt x="0" y="0"/>
                  </a:moveTo>
                  <a:lnTo>
                    <a:pt x="1069196" y="0"/>
                  </a:lnTo>
                  <a:lnTo>
                    <a:pt x="1069196" y="772027"/>
                  </a:lnTo>
                  <a:lnTo>
                    <a:pt x="0" y="772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true" flipV="false" rot="-4394966">
            <a:off x="811229" y="4206059"/>
            <a:ext cx="7917146" cy="14092007"/>
          </a:xfrm>
          <a:custGeom>
            <a:avLst/>
            <a:gdLst/>
            <a:ahLst/>
            <a:cxnLst/>
            <a:rect r="r" b="b" t="t" l="l"/>
            <a:pathLst>
              <a:path h="14092007" w="7917146">
                <a:moveTo>
                  <a:pt x="7917146" y="0"/>
                </a:moveTo>
                <a:lnTo>
                  <a:pt x="0" y="0"/>
                </a:lnTo>
                <a:lnTo>
                  <a:pt x="0" y="14092007"/>
                </a:lnTo>
                <a:lnTo>
                  <a:pt x="7917146" y="14092007"/>
                </a:lnTo>
                <a:lnTo>
                  <a:pt x="7917146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0493" y="1028700"/>
            <a:ext cx="5206732" cy="545881"/>
            <a:chOff x="0" y="0"/>
            <a:chExt cx="6942309" cy="7278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4196" cy="727842"/>
            </a:xfrm>
            <a:custGeom>
              <a:avLst/>
              <a:gdLst/>
              <a:ahLst/>
              <a:cxnLst/>
              <a:rect r="r" b="b" t="t" l="l"/>
              <a:pathLst>
                <a:path h="727842" w="504196">
                  <a:moveTo>
                    <a:pt x="0" y="0"/>
                  </a:moveTo>
                  <a:lnTo>
                    <a:pt x="504196" y="0"/>
                  </a:lnTo>
                  <a:lnTo>
                    <a:pt x="504196" y="727842"/>
                  </a:lnTo>
                  <a:lnTo>
                    <a:pt x="0" y="727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890252" y="77536"/>
              <a:ext cx="6052057" cy="525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7"/>
                </a:lnSpc>
              </a:pPr>
              <a:r>
                <a:rPr lang="en-US" sz="2398" spc="304">
                  <a:solidFill>
                    <a:srgbClr val="080808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EXPENSE SHARING APP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473967" y="2539099"/>
            <a:ext cx="9496055" cy="2435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09"/>
              </a:lnSpc>
            </a:pPr>
            <a:r>
              <a:rPr lang="en-US" sz="9135">
                <a:solidFill>
                  <a:srgbClr val="080808"/>
                </a:solidFill>
                <a:latin typeface="Open Sauce"/>
                <a:ea typeface="Open Sauce"/>
                <a:cs typeface="Open Sauce"/>
                <a:sym typeface="Open Sauce"/>
              </a:rPr>
              <a:t>THE PROPOSED 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54443" y="5347455"/>
            <a:ext cx="6329257" cy="171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07"/>
              </a:lnSpc>
            </a:pPr>
            <a:r>
              <a:rPr lang="en-US" sz="1647" spc="69">
                <a:solidFill>
                  <a:srgbClr val="08080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 modern web application built with front-end development frameworks that enables groups to record shared expenses, automatically calculate individual splits, and display a clear real-time dashboard of who owes whom — eliminating manual calculations and awkward money conversations.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73967" y="5433180"/>
            <a:ext cx="3501396" cy="1037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5"/>
              </a:lnSpc>
            </a:pPr>
            <a:r>
              <a:rPr lang="en-US" sz="2646">
                <a:solidFill>
                  <a:srgbClr val="2E9D71"/>
                </a:solidFill>
                <a:latin typeface="Open Sauce"/>
                <a:ea typeface="Open Sauce"/>
                <a:cs typeface="Open Sauce"/>
                <a:sym typeface="Open Sauce"/>
              </a:rPr>
              <a:t>SMART GROUP EXPENSE MANAGEMENT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54443" y="8113067"/>
            <a:ext cx="4352043" cy="361401"/>
            <a:chOff x="0" y="0"/>
            <a:chExt cx="5802724" cy="48186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712651" y="23764"/>
              <a:ext cx="5090074" cy="363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307"/>
                </a:lnSpc>
              </a:pPr>
              <a:r>
                <a:rPr lang="en-US" sz="1647" spc="69">
                  <a:solidFill>
                    <a:srgbClr val="080808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Instant Split Calculation &amp; Balances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1868" cy="481868"/>
            </a:xfrm>
            <a:custGeom>
              <a:avLst/>
              <a:gdLst/>
              <a:ahLst/>
              <a:cxnLst/>
              <a:rect r="r" b="b" t="t" l="l"/>
              <a:pathLst>
                <a:path h="481868" w="481868">
                  <a:moveTo>
                    <a:pt x="0" y="0"/>
                  </a:moveTo>
                  <a:lnTo>
                    <a:pt x="481868" y="0"/>
                  </a:lnTo>
                  <a:lnTo>
                    <a:pt x="481868" y="481868"/>
                  </a:lnTo>
                  <a:lnTo>
                    <a:pt x="0" y="481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54443" y="8687860"/>
            <a:ext cx="5678489" cy="361401"/>
            <a:chOff x="0" y="0"/>
            <a:chExt cx="7571318" cy="481868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712651" y="23764"/>
              <a:ext cx="6858667" cy="363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307"/>
                </a:lnSpc>
              </a:pPr>
              <a:r>
                <a:rPr lang="en-US" sz="1647" spc="69">
                  <a:solidFill>
                    <a:srgbClr val="080808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Visual Dashboard: Who Owes Whom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1868" cy="481868"/>
            </a:xfrm>
            <a:custGeom>
              <a:avLst/>
              <a:gdLst/>
              <a:ahLst/>
              <a:cxnLst/>
              <a:rect r="r" b="b" t="t" l="l"/>
              <a:pathLst>
                <a:path h="481868" w="481868">
                  <a:moveTo>
                    <a:pt x="0" y="0"/>
                  </a:moveTo>
                  <a:lnTo>
                    <a:pt x="481868" y="0"/>
                  </a:lnTo>
                  <a:lnTo>
                    <a:pt x="481868" y="481868"/>
                  </a:lnTo>
                  <a:lnTo>
                    <a:pt x="0" y="481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65301" y="2634339"/>
            <a:ext cx="4117253" cy="3828493"/>
            <a:chOff x="0" y="0"/>
            <a:chExt cx="1216373" cy="11310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6373" cy="1131063"/>
            </a:xfrm>
            <a:custGeom>
              <a:avLst/>
              <a:gdLst/>
              <a:ahLst/>
              <a:cxnLst/>
              <a:rect r="r" b="b" t="t" l="l"/>
              <a:pathLst>
                <a:path h="1131063" w="1216373">
                  <a:moveTo>
                    <a:pt x="0" y="0"/>
                  </a:moveTo>
                  <a:lnTo>
                    <a:pt x="1216373" y="0"/>
                  </a:lnTo>
                  <a:lnTo>
                    <a:pt x="1216373" y="1131063"/>
                  </a:lnTo>
                  <a:lnTo>
                    <a:pt x="0" y="1131063"/>
                  </a:lnTo>
                  <a:close/>
                </a:path>
              </a:pathLst>
            </a:custGeom>
            <a:blipFill>
              <a:blip r:embed="rId6"/>
              <a:stretch>
                <a:fillRect l="-263" t="0" r="-263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5415807" y="-6787891"/>
            <a:ext cx="20711316" cy="10070877"/>
          </a:xfrm>
          <a:custGeom>
            <a:avLst/>
            <a:gdLst/>
            <a:ahLst/>
            <a:cxnLst/>
            <a:rect r="r" b="b" t="t" l="l"/>
            <a:pathLst>
              <a:path h="10070877" w="20711316">
                <a:moveTo>
                  <a:pt x="0" y="0"/>
                </a:moveTo>
                <a:lnTo>
                  <a:pt x="20711315" y="0"/>
                </a:lnTo>
                <a:lnTo>
                  <a:pt x="20711315" y="10070877"/>
                </a:lnTo>
                <a:lnTo>
                  <a:pt x="0" y="100708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13866950" y="4416424"/>
            <a:ext cx="25502759" cy="11571877"/>
          </a:xfrm>
          <a:custGeom>
            <a:avLst/>
            <a:gdLst/>
            <a:ahLst/>
            <a:cxnLst/>
            <a:rect r="r" b="b" t="t" l="l"/>
            <a:pathLst>
              <a:path h="11571877" w="25502759">
                <a:moveTo>
                  <a:pt x="0" y="0"/>
                </a:moveTo>
                <a:lnTo>
                  <a:pt x="25502759" y="0"/>
                </a:lnTo>
                <a:lnTo>
                  <a:pt x="25502759" y="11571877"/>
                </a:lnTo>
                <a:lnTo>
                  <a:pt x="0" y="115718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5400000">
            <a:off x="15175971" y="2634339"/>
            <a:ext cx="956414" cy="956414"/>
          </a:xfrm>
          <a:custGeom>
            <a:avLst/>
            <a:gdLst/>
            <a:ahLst/>
            <a:cxnLst/>
            <a:rect r="r" b="b" t="t" l="l"/>
            <a:pathLst>
              <a:path h="956414" w="956414">
                <a:moveTo>
                  <a:pt x="0" y="0"/>
                </a:moveTo>
                <a:lnTo>
                  <a:pt x="956413" y="0"/>
                </a:lnTo>
                <a:lnTo>
                  <a:pt x="956413" y="956414"/>
                </a:lnTo>
                <a:lnTo>
                  <a:pt x="0" y="9564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0493" y="1028700"/>
            <a:ext cx="5206732" cy="545881"/>
            <a:chOff x="0" y="0"/>
            <a:chExt cx="6942309" cy="7278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4196" cy="727842"/>
            </a:xfrm>
            <a:custGeom>
              <a:avLst/>
              <a:gdLst/>
              <a:ahLst/>
              <a:cxnLst/>
              <a:rect r="r" b="b" t="t" l="l"/>
              <a:pathLst>
                <a:path h="727842" w="504196">
                  <a:moveTo>
                    <a:pt x="0" y="0"/>
                  </a:moveTo>
                  <a:lnTo>
                    <a:pt x="504196" y="0"/>
                  </a:lnTo>
                  <a:lnTo>
                    <a:pt x="504196" y="727842"/>
                  </a:lnTo>
                  <a:lnTo>
                    <a:pt x="0" y="727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890252" y="77536"/>
              <a:ext cx="6052057" cy="525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7"/>
                </a:lnSpc>
              </a:pPr>
              <a:r>
                <a:rPr lang="en-US" sz="2398" spc="304">
                  <a:solidFill>
                    <a:srgbClr val="F2FFF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EXPENSE SHARING APP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4506284">
            <a:off x="-272430" y="3963060"/>
            <a:ext cx="10705830" cy="10725331"/>
          </a:xfrm>
          <a:custGeom>
            <a:avLst/>
            <a:gdLst/>
            <a:ahLst/>
            <a:cxnLst/>
            <a:rect r="r" b="b" t="t" l="l"/>
            <a:pathLst>
              <a:path h="10725331" w="10705830">
                <a:moveTo>
                  <a:pt x="10705830" y="0"/>
                </a:moveTo>
                <a:lnTo>
                  <a:pt x="0" y="0"/>
                </a:lnTo>
                <a:lnTo>
                  <a:pt x="0" y="10725331"/>
                </a:lnTo>
                <a:lnTo>
                  <a:pt x="10705830" y="10725331"/>
                </a:lnTo>
                <a:lnTo>
                  <a:pt x="1070583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62414" y="2774194"/>
            <a:ext cx="595203" cy="595203"/>
          </a:xfrm>
          <a:custGeom>
            <a:avLst/>
            <a:gdLst/>
            <a:ahLst/>
            <a:cxnLst/>
            <a:rect r="r" b="b" t="t" l="l"/>
            <a:pathLst>
              <a:path h="595203" w="595203">
                <a:moveTo>
                  <a:pt x="0" y="0"/>
                </a:moveTo>
                <a:lnTo>
                  <a:pt x="595203" y="0"/>
                </a:lnTo>
                <a:lnTo>
                  <a:pt x="595203" y="595203"/>
                </a:lnTo>
                <a:lnTo>
                  <a:pt x="0" y="5952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43729" y="2774194"/>
            <a:ext cx="595203" cy="595203"/>
          </a:xfrm>
          <a:custGeom>
            <a:avLst/>
            <a:gdLst/>
            <a:ahLst/>
            <a:cxnLst/>
            <a:rect r="r" b="b" t="t" l="l"/>
            <a:pathLst>
              <a:path h="595203" w="595203">
                <a:moveTo>
                  <a:pt x="0" y="0"/>
                </a:moveTo>
                <a:lnTo>
                  <a:pt x="595203" y="0"/>
                </a:lnTo>
                <a:lnTo>
                  <a:pt x="595203" y="595203"/>
                </a:lnTo>
                <a:lnTo>
                  <a:pt x="0" y="5952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043729" y="5447622"/>
            <a:ext cx="595203" cy="595203"/>
          </a:xfrm>
          <a:custGeom>
            <a:avLst/>
            <a:gdLst/>
            <a:ahLst/>
            <a:cxnLst/>
            <a:rect r="r" b="b" t="t" l="l"/>
            <a:pathLst>
              <a:path h="595203" w="595203">
                <a:moveTo>
                  <a:pt x="0" y="0"/>
                </a:moveTo>
                <a:lnTo>
                  <a:pt x="595203" y="0"/>
                </a:lnTo>
                <a:lnTo>
                  <a:pt x="595203" y="595203"/>
                </a:lnTo>
                <a:lnTo>
                  <a:pt x="0" y="5952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776323" y="0"/>
            <a:ext cx="3181846" cy="1574581"/>
            <a:chOff x="0" y="0"/>
            <a:chExt cx="1320523" cy="6534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20523" cy="653480"/>
            </a:xfrm>
            <a:custGeom>
              <a:avLst/>
              <a:gdLst/>
              <a:ahLst/>
              <a:cxnLst/>
              <a:rect r="r" b="b" t="t" l="l"/>
              <a:pathLst>
                <a:path h="653480" w="1320523">
                  <a:moveTo>
                    <a:pt x="0" y="0"/>
                  </a:moveTo>
                  <a:lnTo>
                    <a:pt x="1320523" y="0"/>
                  </a:lnTo>
                  <a:lnTo>
                    <a:pt x="1320523" y="653480"/>
                  </a:lnTo>
                  <a:lnTo>
                    <a:pt x="0" y="653480"/>
                  </a:lnTo>
                  <a:close/>
                </a:path>
              </a:pathLst>
            </a:custGeom>
            <a:blipFill>
              <a:blip r:embed="rId7"/>
              <a:stretch>
                <a:fillRect l="0" t="-1024" r="0" b="-102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090232" y="7845753"/>
            <a:ext cx="3181846" cy="1958469"/>
            <a:chOff x="0" y="0"/>
            <a:chExt cx="1320523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20523" cy="812800"/>
            </a:xfrm>
            <a:custGeom>
              <a:avLst/>
              <a:gdLst/>
              <a:ahLst/>
              <a:cxnLst/>
              <a:rect r="r" b="b" t="t" l="l"/>
              <a:pathLst>
                <a:path h="812800" w="1320523">
                  <a:moveTo>
                    <a:pt x="0" y="0"/>
                  </a:moveTo>
                  <a:lnTo>
                    <a:pt x="1320523" y="0"/>
                  </a:lnTo>
                  <a:lnTo>
                    <a:pt x="132052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 l="0" t="-465" r="0" b="-46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80493" y="2622508"/>
            <a:ext cx="3181846" cy="1958469"/>
            <a:chOff x="0" y="0"/>
            <a:chExt cx="1320523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20523" cy="812800"/>
            </a:xfrm>
            <a:custGeom>
              <a:avLst/>
              <a:gdLst/>
              <a:ahLst/>
              <a:cxnLst/>
              <a:rect r="r" b="b" t="t" l="l"/>
              <a:pathLst>
                <a:path h="812800" w="1320523">
                  <a:moveTo>
                    <a:pt x="0" y="0"/>
                  </a:moveTo>
                  <a:lnTo>
                    <a:pt x="1320523" y="0"/>
                  </a:lnTo>
                  <a:lnTo>
                    <a:pt x="132052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 l="0" t="-465" r="0" b="-465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5400000">
            <a:off x="16021677" y="1574581"/>
            <a:ext cx="956414" cy="956414"/>
          </a:xfrm>
          <a:custGeom>
            <a:avLst/>
            <a:gdLst/>
            <a:ahLst/>
            <a:cxnLst/>
            <a:rect r="r" b="b" t="t" l="l"/>
            <a:pathLst>
              <a:path h="956414" w="956414">
                <a:moveTo>
                  <a:pt x="0" y="0"/>
                </a:moveTo>
                <a:lnTo>
                  <a:pt x="956414" y="0"/>
                </a:lnTo>
                <a:lnTo>
                  <a:pt x="956414" y="956414"/>
                </a:lnTo>
                <a:lnTo>
                  <a:pt x="0" y="956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80493" y="6493889"/>
            <a:ext cx="9363236" cy="243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09"/>
              </a:lnSpc>
            </a:pPr>
            <a:r>
              <a:rPr lang="en-US" sz="9135">
                <a:solidFill>
                  <a:srgbClr val="F2FFF9"/>
                </a:solidFill>
                <a:latin typeface="Open Sauce"/>
                <a:ea typeface="Open Sauce"/>
                <a:cs typeface="Open Sauce"/>
                <a:sym typeface="Open Sauce"/>
              </a:rPr>
              <a:t>KEY</a:t>
            </a:r>
          </a:p>
          <a:p>
            <a:pPr algn="l" marL="0" indent="0" lvl="0">
              <a:lnSpc>
                <a:spcPts val="9409"/>
              </a:lnSpc>
            </a:pPr>
            <a:r>
              <a:rPr lang="en-US" sz="9135">
                <a:solidFill>
                  <a:srgbClr val="F2FFF9"/>
                </a:solidFill>
                <a:latin typeface="Open Sauce"/>
                <a:ea typeface="Open Sauce"/>
                <a:cs typeface="Open Sauce"/>
                <a:sym typeface="Open Sauce"/>
              </a:rPr>
              <a:t>FEATURES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08917" y="3340822"/>
            <a:ext cx="3931445" cy="1020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43"/>
              </a:lnSpc>
            </a:pPr>
            <a:r>
              <a:rPr lang="en-US" sz="1459" spc="61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Instantly log any shared expense — enter amount, category, and participants. Clean input forms with real-time validation and smart auto-suggestions.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90232" y="3340822"/>
            <a:ext cx="3931445" cy="1020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43"/>
              </a:lnSpc>
            </a:pPr>
            <a:r>
              <a:rPr lang="en-US" sz="1459" spc="61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Automatically divide costs equally or by custom percentage. Visual split cards show each member's share with zero manual calculation needed.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90232" y="6014250"/>
            <a:ext cx="3931445" cy="1020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43"/>
              </a:lnSpc>
            </a:pPr>
            <a:r>
              <a:rPr lang="en-US" sz="1459" spc="61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Live balance dashboard shows who owes whom. Full expense history with filters, category tags, and timeline view for complete transparency.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08917" y="2821819"/>
            <a:ext cx="4534812" cy="352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5"/>
              </a:lnSpc>
            </a:pPr>
            <a:r>
              <a:rPr lang="en-US" sz="2646">
                <a:solidFill>
                  <a:srgbClr val="F2F99E"/>
                </a:solidFill>
                <a:latin typeface="Open Sauce"/>
                <a:ea typeface="Open Sauce"/>
                <a:cs typeface="Open Sauce"/>
                <a:sym typeface="Open Sauce"/>
              </a:rPr>
              <a:t>ADD EXPENSE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90232" y="2821819"/>
            <a:ext cx="4534812" cy="352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5"/>
              </a:lnSpc>
            </a:pPr>
            <a:r>
              <a:rPr lang="en-US" sz="2646">
                <a:solidFill>
                  <a:srgbClr val="F2F99E"/>
                </a:solidFill>
                <a:latin typeface="Open Sauce"/>
                <a:ea typeface="Open Sauce"/>
                <a:cs typeface="Open Sauce"/>
                <a:sym typeface="Open Sauce"/>
              </a:rPr>
              <a:t>SPLIT COSTS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90232" y="5495247"/>
            <a:ext cx="4534812" cy="352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5"/>
              </a:lnSpc>
            </a:pPr>
            <a:r>
              <a:rPr lang="en-US" sz="2646">
                <a:solidFill>
                  <a:srgbClr val="F2F99E"/>
                </a:solidFill>
                <a:latin typeface="Open Sauce"/>
                <a:ea typeface="Open Sauce"/>
                <a:cs typeface="Open Sauce"/>
                <a:sym typeface="Open Sauce"/>
              </a:rPr>
              <a:t>BALANCES &amp; HISTORY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0493" y="1028700"/>
            <a:ext cx="5206732" cy="545881"/>
            <a:chOff x="0" y="0"/>
            <a:chExt cx="6942309" cy="7278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4196" cy="727842"/>
            </a:xfrm>
            <a:custGeom>
              <a:avLst/>
              <a:gdLst/>
              <a:ahLst/>
              <a:cxnLst/>
              <a:rect r="r" b="b" t="t" l="l"/>
              <a:pathLst>
                <a:path h="727842" w="504196">
                  <a:moveTo>
                    <a:pt x="0" y="0"/>
                  </a:moveTo>
                  <a:lnTo>
                    <a:pt x="504196" y="0"/>
                  </a:lnTo>
                  <a:lnTo>
                    <a:pt x="504196" y="727842"/>
                  </a:lnTo>
                  <a:lnTo>
                    <a:pt x="0" y="727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890252" y="77536"/>
              <a:ext cx="6052057" cy="525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7"/>
                </a:lnSpc>
              </a:pPr>
              <a:r>
                <a:rPr lang="en-US" sz="2398" spc="304">
                  <a:solidFill>
                    <a:srgbClr val="F2FFF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EXPENSE SHARING APP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80493" y="2882924"/>
            <a:ext cx="13713190" cy="243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09"/>
              </a:lnSpc>
            </a:pPr>
            <a:r>
              <a:rPr lang="en-US" sz="9135">
                <a:solidFill>
                  <a:srgbClr val="F2FFF9"/>
                </a:solidFill>
                <a:latin typeface="Open Sauce"/>
                <a:ea typeface="Open Sauce"/>
                <a:cs typeface="Open Sauce"/>
                <a:sym typeface="Open Sauce"/>
              </a:rPr>
              <a:t>₹2000 EXPENSE</a:t>
            </a:r>
          </a:p>
          <a:p>
            <a:pPr algn="l" marL="0" indent="0" lvl="0">
              <a:lnSpc>
                <a:spcPts val="9409"/>
              </a:lnSpc>
            </a:pPr>
            <a:r>
              <a:rPr lang="en-US" sz="9135">
                <a:solidFill>
                  <a:srgbClr val="F2FFF9"/>
                </a:solidFill>
                <a:latin typeface="Open Sauce"/>
                <a:ea typeface="Open Sauce"/>
                <a:cs typeface="Open Sauce"/>
                <a:sym typeface="Open Sauce"/>
              </a:rPr>
              <a:t>SPLIT EXAMPLE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5780" y="7313034"/>
            <a:ext cx="4446157" cy="182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25"/>
              </a:lnSpc>
            </a:pPr>
            <a:r>
              <a:rPr lang="en-US" b="true" sz="13519">
                <a:solidFill>
                  <a:srgbClr val="56D5A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₹500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97058" y="4166973"/>
            <a:ext cx="4219462" cy="112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93"/>
              </a:lnSpc>
            </a:pPr>
            <a:r>
              <a:rPr lang="en-US" sz="1638" spc="68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 group dinner of ₹2000 is split equally among 4 friends — Arjun, Priya, Ravi &amp; Sneha. Each owes ₹500. Balances update instantly in the app dashboard.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56675" y="8018145"/>
            <a:ext cx="4639186" cy="112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93"/>
              </a:lnSpc>
            </a:pPr>
            <a:r>
              <a:rPr lang="en-US" sz="1638" spc="68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Arjun paid ₹2000 upfront. The app auto-calculates each share: Priya owes ₹500, Ravi owes ₹500, Sneha owes ₹500. Net balance shown per user in real time.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56675" y="7474719"/>
            <a:ext cx="5040383" cy="352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5"/>
              </a:lnSpc>
            </a:pPr>
            <a:r>
              <a:rPr lang="en-US" sz="2646">
                <a:solidFill>
                  <a:srgbClr val="F2F99E"/>
                </a:solidFill>
                <a:latin typeface="Open Sauce"/>
                <a:ea typeface="Open Sauce"/>
                <a:cs typeface="Open Sauce"/>
                <a:sym typeface="Open Sauce"/>
              </a:rPr>
              <a:t>EQUAL SPLIT — 4 MEMBERS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97058" y="5757102"/>
            <a:ext cx="4219462" cy="2509161"/>
            <a:chOff x="0" y="0"/>
            <a:chExt cx="1366823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6823" cy="812800"/>
            </a:xfrm>
            <a:custGeom>
              <a:avLst/>
              <a:gdLst/>
              <a:ahLst/>
              <a:cxnLst/>
              <a:rect r="r" b="b" t="t" l="l"/>
              <a:pathLst>
                <a:path h="812800" w="1366823">
                  <a:moveTo>
                    <a:pt x="0" y="0"/>
                  </a:moveTo>
                  <a:lnTo>
                    <a:pt x="1366823" y="0"/>
                  </a:lnTo>
                  <a:lnTo>
                    <a:pt x="136682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0" t="-553" r="0" b="-553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5400000">
            <a:off x="9539446" y="5757102"/>
            <a:ext cx="956414" cy="956414"/>
          </a:xfrm>
          <a:custGeom>
            <a:avLst/>
            <a:gdLst/>
            <a:ahLst/>
            <a:cxnLst/>
            <a:rect r="r" b="b" t="t" l="l"/>
            <a:pathLst>
              <a:path h="956414" w="956414">
                <a:moveTo>
                  <a:pt x="0" y="0"/>
                </a:moveTo>
                <a:lnTo>
                  <a:pt x="956414" y="0"/>
                </a:lnTo>
                <a:lnTo>
                  <a:pt x="956414" y="956413"/>
                </a:lnTo>
                <a:lnTo>
                  <a:pt x="0" y="9564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730991" y="-6219201"/>
            <a:ext cx="10679272" cy="9941431"/>
          </a:xfrm>
          <a:custGeom>
            <a:avLst/>
            <a:gdLst/>
            <a:ahLst/>
            <a:cxnLst/>
            <a:rect r="r" b="b" t="t" l="l"/>
            <a:pathLst>
              <a:path h="9941431" w="10679272">
                <a:moveTo>
                  <a:pt x="0" y="0"/>
                </a:moveTo>
                <a:lnTo>
                  <a:pt x="10679272" y="0"/>
                </a:lnTo>
                <a:lnTo>
                  <a:pt x="10679272" y="9941431"/>
                </a:lnTo>
                <a:lnTo>
                  <a:pt x="0" y="99414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55157" y="-219165"/>
            <a:ext cx="10705830" cy="10725331"/>
          </a:xfrm>
          <a:custGeom>
            <a:avLst/>
            <a:gdLst/>
            <a:ahLst/>
            <a:cxnLst/>
            <a:rect r="r" b="b" t="t" l="l"/>
            <a:pathLst>
              <a:path h="10725331" w="10705830">
                <a:moveTo>
                  <a:pt x="0" y="0"/>
                </a:moveTo>
                <a:lnTo>
                  <a:pt x="10705830" y="0"/>
                </a:lnTo>
                <a:lnTo>
                  <a:pt x="10705830" y="10725330"/>
                </a:lnTo>
                <a:lnTo>
                  <a:pt x="0" y="10725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80493" y="1028700"/>
            <a:ext cx="5206732" cy="545881"/>
            <a:chOff x="0" y="0"/>
            <a:chExt cx="6942309" cy="7278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4196" cy="727842"/>
            </a:xfrm>
            <a:custGeom>
              <a:avLst/>
              <a:gdLst/>
              <a:ahLst/>
              <a:cxnLst/>
              <a:rect r="r" b="b" t="t" l="l"/>
              <a:pathLst>
                <a:path h="727842" w="504196">
                  <a:moveTo>
                    <a:pt x="0" y="0"/>
                  </a:moveTo>
                  <a:lnTo>
                    <a:pt x="504196" y="0"/>
                  </a:lnTo>
                  <a:lnTo>
                    <a:pt x="504196" y="727842"/>
                  </a:lnTo>
                  <a:lnTo>
                    <a:pt x="0" y="727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890252" y="77536"/>
              <a:ext cx="6052057" cy="525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7"/>
                </a:lnSpc>
              </a:pPr>
              <a:r>
                <a:rPr lang="en-US" sz="2398" spc="304">
                  <a:solidFill>
                    <a:srgbClr val="F2FFF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EXPENSE SHARING APP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288876" y="1812948"/>
            <a:ext cx="4305478" cy="2876990"/>
            <a:chOff x="0" y="0"/>
            <a:chExt cx="1216373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6373" cy="812800"/>
            </a:xfrm>
            <a:custGeom>
              <a:avLst/>
              <a:gdLst/>
              <a:ahLst/>
              <a:cxnLst/>
              <a:rect r="r" b="b" t="t" l="l"/>
              <a:pathLst>
                <a:path h="812800" w="1216373">
                  <a:moveTo>
                    <a:pt x="0" y="0"/>
                  </a:moveTo>
                  <a:lnTo>
                    <a:pt x="1216373" y="0"/>
                  </a:lnTo>
                  <a:lnTo>
                    <a:pt x="121637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0" t="-133" r="0" b="-133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80493" y="6088415"/>
            <a:ext cx="9496055" cy="243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09"/>
              </a:lnSpc>
            </a:pPr>
            <a:r>
              <a:rPr lang="en-US" sz="9135">
                <a:solidFill>
                  <a:srgbClr val="F2FFF9"/>
                </a:solidFill>
                <a:latin typeface="Open Sauce"/>
                <a:ea typeface="Open Sauce"/>
                <a:cs typeface="Open Sauce"/>
                <a:sym typeface="Open Sauce"/>
              </a:rPr>
              <a:t>USER</a:t>
            </a:r>
          </a:p>
          <a:p>
            <a:pPr algn="l" marL="0" indent="0" lvl="0">
              <a:lnSpc>
                <a:spcPts val="9409"/>
              </a:lnSpc>
            </a:pPr>
            <a:r>
              <a:rPr lang="en-US" sz="9135">
                <a:solidFill>
                  <a:srgbClr val="F2FFF9"/>
                </a:solidFill>
                <a:latin typeface="Open Sauce"/>
                <a:ea typeface="Open Sauce"/>
                <a:cs typeface="Open Sauce"/>
                <a:sym typeface="Open Sauce"/>
              </a:rPr>
              <a:t>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88876" y="5124450"/>
            <a:ext cx="4305478" cy="229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9"/>
              </a:lnSpc>
            </a:pPr>
            <a:r>
              <a:rPr lang="en-US" sz="1200" spc="50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Step 1: Enter Expense</a:t>
            </a:r>
          </a:p>
          <a:p>
            <a:pPr algn="just" marL="0" indent="0" lvl="0">
              <a:lnSpc>
                <a:spcPts val="1679"/>
              </a:lnSpc>
            </a:pPr>
            <a:r>
              <a:rPr lang="en-US" sz="1200" spc="50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User inputs the total amount and adds a short description. The app instantly logs the transaction with a timestamp.</a:t>
            </a:r>
          </a:p>
          <a:p>
            <a:pPr algn="just" marL="0" indent="0" lvl="0">
              <a:lnSpc>
                <a:spcPts val="1679"/>
              </a:lnSpc>
            </a:pPr>
            <a:r>
              <a:rPr lang="en-US" sz="1200" spc="50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Step 2: Select Participants &amp; Split Method</a:t>
            </a:r>
          </a:p>
          <a:p>
            <a:pPr algn="just" marL="0" indent="0" lvl="0">
              <a:lnSpc>
                <a:spcPts val="1679"/>
              </a:lnSpc>
            </a:pPr>
            <a:r>
              <a:rPr lang="en-US" sz="1200" spc="50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Choose group members involved. Pick equal, percentage, or custom split — the app calculates each share in real time.</a:t>
            </a:r>
          </a:p>
          <a:p>
            <a:pPr algn="just" marL="0" indent="0" lvl="0">
              <a:lnSpc>
                <a:spcPts val="1679"/>
              </a:lnSpc>
            </a:pPr>
            <a:r>
              <a:rPr lang="en-US" sz="1200" spc="50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Step 3: Review Shares &amp; Balances</a:t>
            </a:r>
          </a:p>
          <a:p>
            <a:pPr algn="just" marL="0" indent="0" lvl="0">
              <a:lnSpc>
                <a:spcPts val="1679"/>
              </a:lnSpc>
            </a:pPr>
            <a:r>
              <a:rPr lang="en-US" sz="1200" spc="50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 clean summary shows who owes what. Balances update instantly across all participants' dashboards.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86764" y="3144983"/>
            <a:ext cx="4135412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9"/>
              </a:lnSpc>
            </a:pPr>
            <a:r>
              <a:rPr lang="en-US" sz="1200" spc="50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Three seamless steps guide the user from expense entry to final balance update — designed for speed, clarity and zero confusion.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86764" y="7217805"/>
            <a:ext cx="4135412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 spc="50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➤  Enter Amount &amp; Description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86764" y="7654173"/>
            <a:ext cx="4135412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 spc="50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➤  Select Members &amp; Split Type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86764" y="8090542"/>
            <a:ext cx="4135412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 spc="50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➤  Review Balances &amp; Confirm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5400000">
            <a:off x="12119209" y="1798877"/>
            <a:ext cx="874939" cy="913702"/>
          </a:xfrm>
          <a:custGeom>
            <a:avLst/>
            <a:gdLst/>
            <a:ahLst/>
            <a:cxnLst/>
            <a:rect r="r" b="b" t="t" l="l"/>
            <a:pathLst>
              <a:path h="913702" w="874939">
                <a:moveTo>
                  <a:pt x="0" y="0"/>
                </a:moveTo>
                <a:lnTo>
                  <a:pt x="874938" y="0"/>
                </a:lnTo>
                <a:lnTo>
                  <a:pt x="874938" y="913701"/>
                </a:lnTo>
                <a:lnTo>
                  <a:pt x="0" y="9137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0493" y="1028700"/>
            <a:ext cx="5206732" cy="545881"/>
            <a:chOff x="0" y="0"/>
            <a:chExt cx="6942309" cy="7278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4196" cy="727842"/>
            </a:xfrm>
            <a:custGeom>
              <a:avLst/>
              <a:gdLst/>
              <a:ahLst/>
              <a:cxnLst/>
              <a:rect r="r" b="b" t="t" l="l"/>
              <a:pathLst>
                <a:path h="727842" w="504196">
                  <a:moveTo>
                    <a:pt x="0" y="0"/>
                  </a:moveTo>
                  <a:lnTo>
                    <a:pt x="504196" y="0"/>
                  </a:lnTo>
                  <a:lnTo>
                    <a:pt x="504196" y="727842"/>
                  </a:lnTo>
                  <a:lnTo>
                    <a:pt x="0" y="727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890252" y="87061"/>
              <a:ext cx="6052057" cy="4733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5"/>
                </a:lnSpc>
              </a:pPr>
              <a:r>
                <a:rPr lang="en-US" sz="2147" spc="272">
                  <a:solidFill>
                    <a:srgbClr val="F2FFF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EXPENSE SHARING APP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668158" y="5945540"/>
            <a:ext cx="4475842" cy="2876990"/>
            <a:chOff x="0" y="0"/>
            <a:chExt cx="1264504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4504" cy="812800"/>
            </a:xfrm>
            <a:custGeom>
              <a:avLst/>
              <a:gdLst/>
              <a:ahLst/>
              <a:cxnLst/>
              <a:rect r="r" b="b" t="t" l="l"/>
              <a:pathLst>
                <a:path h="812800" w="1264504">
                  <a:moveTo>
                    <a:pt x="0" y="0"/>
                  </a:moveTo>
                  <a:lnTo>
                    <a:pt x="1264504" y="0"/>
                  </a:lnTo>
                  <a:lnTo>
                    <a:pt x="1264504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0" t="-561" r="0" b="-561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5400000">
            <a:off x="3901448" y="8128808"/>
            <a:ext cx="1129492" cy="1129492"/>
          </a:xfrm>
          <a:custGeom>
            <a:avLst/>
            <a:gdLst/>
            <a:ahLst/>
            <a:cxnLst/>
            <a:rect r="r" b="b" t="t" l="l"/>
            <a:pathLst>
              <a:path h="1129492" w="1129492">
                <a:moveTo>
                  <a:pt x="0" y="0"/>
                </a:moveTo>
                <a:lnTo>
                  <a:pt x="1129491" y="0"/>
                </a:lnTo>
                <a:lnTo>
                  <a:pt x="1129491" y="1129492"/>
                </a:lnTo>
                <a:lnTo>
                  <a:pt x="0" y="11294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08285" y="-7698425"/>
            <a:ext cx="17956943" cy="12233167"/>
          </a:xfrm>
          <a:custGeom>
            <a:avLst/>
            <a:gdLst/>
            <a:ahLst/>
            <a:cxnLst/>
            <a:rect r="r" b="b" t="t" l="l"/>
            <a:pathLst>
              <a:path h="12233167" w="17956943">
                <a:moveTo>
                  <a:pt x="0" y="0"/>
                </a:moveTo>
                <a:lnTo>
                  <a:pt x="17956943" y="0"/>
                </a:lnTo>
                <a:lnTo>
                  <a:pt x="17956943" y="12233167"/>
                </a:lnTo>
                <a:lnTo>
                  <a:pt x="0" y="122331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12544772" y="2759490"/>
            <a:ext cx="855425" cy="855425"/>
          </a:xfrm>
          <a:custGeom>
            <a:avLst/>
            <a:gdLst/>
            <a:ahLst/>
            <a:cxnLst/>
            <a:rect r="r" b="b" t="t" l="l"/>
            <a:pathLst>
              <a:path h="855425" w="855425">
                <a:moveTo>
                  <a:pt x="0" y="0"/>
                </a:moveTo>
                <a:lnTo>
                  <a:pt x="855425" y="0"/>
                </a:lnTo>
                <a:lnTo>
                  <a:pt x="855425" y="855424"/>
                </a:lnTo>
                <a:lnTo>
                  <a:pt x="0" y="8554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730991" y="3187202"/>
            <a:ext cx="3241494" cy="2083574"/>
            <a:chOff x="0" y="0"/>
            <a:chExt cx="1264504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64504" cy="812800"/>
            </a:xfrm>
            <a:custGeom>
              <a:avLst/>
              <a:gdLst/>
              <a:ahLst/>
              <a:cxnLst/>
              <a:rect r="r" b="b" t="t" l="l"/>
              <a:pathLst>
                <a:path h="812800" w="1264504">
                  <a:moveTo>
                    <a:pt x="0" y="0"/>
                  </a:moveTo>
                  <a:lnTo>
                    <a:pt x="1264504" y="0"/>
                  </a:lnTo>
                  <a:lnTo>
                    <a:pt x="1264504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 l="0" t="-561" r="0" b="-56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80493" y="3057917"/>
            <a:ext cx="8050498" cy="245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3"/>
              </a:lnSpc>
            </a:pPr>
            <a:r>
              <a:rPr lang="en-US" sz="6216">
                <a:solidFill>
                  <a:srgbClr val="F2FFF9"/>
                </a:solidFill>
                <a:latin typeface="Open Sauce"/>
                <a:ea typeface="Open Sauce"/>
                <a:cs typeface="Open Sauce"/>
                <a:sym typeface="Open Sauce"/>
              </a:rPr>
              <a:t>FRONTEND COMPONENTS</a:t>
            </a:r>
          </a:p>
          <a:p>
            <a:pPr algn="l" marL="0" indent="0" lvl="0">
              <a:lnSpc>
                <a:spcPts val="6403"/>
              </a:lnSpc>
            </a:pPr>
            <a:r>
              <a:rPr lang="en-US" sz="6216">
                <a:solidFill>
                  <a:srgbClr val="F2FFF9"/>
                </a:solidFill>
                <a:latin typeface="Open Sauce"/>
                <a:ea typeface="Open Sauce"/>
                <a:cs typeface="Open Sauce"/>
                <a:sym typeface="Open Sauce"/>
              </a:rPr>
              <a:t>&amp; 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0493" y="2450935"/>
            <a:ext cx="4359870" cy="51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64"/>
              </a:lnSpc>
            </a:pPr>
            <a:r>
              <a:rPr lang="en-US" sz="3751" spc="1316">
                <a:solidFill>
                  <a:srgbClr val="F2F99E"/>
                </a:solidFill>
                <a:latin typeface="Open Sauce"/>
                <a:ea typeface="Open Sauce"/>
                <a:cs typeface="Open Sauce"/>
                <a:sym typeface="Open Sauce"/>
              </a:rPr>
              <a:t>SLIDE 08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54443" y="5916965"/>
            <a:ext cx="6329257" cy="2845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54"/>
              </a:lnSpc>
            </a:pPr>
            <a:r>
              <a:rPr lang="en-US" sz="1610" spc="67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Component Layers:</a:t>
            </a:r>
          </a:p>
          <a:p>
            <a:pPr algn="just" marL="0" indent="0" lvl="0">
              <a:lnSpc>
                <a:spcPts val="2254"/>
              </a:lnSpc>
            </a:pPr>
            <a:r>
              <a:rPr lang="en-US" sz="1610" spc="67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 Input &amp; Expense Form — captures amount, category, date</a:t>
            </a:r>
          </a:p>
          <a:p>
            <a:pPr algn="just" marL="0" indent="0" lvl="0">
              <a:lnSpc>
                <a:spcPts val="2254"/>
              </a:lnSpc>
            </a:pPr>
            <a:r>
              <a:rPr lang="en-US" sz="1610" spc="67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 Participant Selector — dynamic member toggle with avatars</a:t>
            </a:r>
          </a:p>
          <a:p>
            <a:pPr algn="just" marL="0" indent="0" lvl="0">
              <a:lnSpc>
                <a:spcPts val="2254"/>
              </a:lnSpc>
            </a:pPr>
            <a:r>
              <a:rPr lang="en-US" sz="1610" spc="67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 Split Calculation View — equal / custom split logic display</a:t>
            </a:r>
          </a:p>
          <a:p>
            <a:pPr algn="just" marL="0" indent="0" lvl="0">
              <a:lnSpc>
                <a:spcPts val="2254"/>
              </a:lnSpc>
            </a:pPr>
            <a:r>
              <a:rPr lang="en-US" sz="1610" spc="67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 Balance Cards — per-user owed / owed-to summary tiles</a:t>
            </a:r>
          </a:p>
          <a:p>
            <a:pPr algn="just" marL="0" indent="0" lvl="0">
              <a:lnSpc>
                <a:spcPts val="2254"/>
              </a:lnSpc>
            </a:pPr>
            <a:r>
              <a:rPr lang="en-US" sz="1610" spc="67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 Summary Dashboard — grouped totals, visual breakdown charts</a:t>
            </a:r>
          </a:p>
          <a:p>
            <a:pPr algn="just" marL="0" indent="0" lvl="0">
              <a:lnSpc>
                <a:spcPts val="2254"/>
              </a:lnSpc>
            </a:pPr>
            <a:r>
              <a:rPr lang="en-US" sz="1610" spc="67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All components are modular, reusable, and state-driven for seamless UI updates.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72754" y="-3002400"/>
            <a:ext cx="10705830" cy="10725331"/>
          </a:xfrm>
          <a:custGeom>
            <a:avLst/>
            <a:gdLst/>
            <a:ahLst/>
            <a:cxnLst/>
            <a:rect r="r" b="b" t="t" l="l"/>
            <a:pathLst>
              <a:path h="10725331" w="10705830">
                <a:moveTo>
                  <a:pt x="0" y="0"/>
                </a:moveTo>
                <a:lnTo>
                  <a:pt x="10705830" y="0"/>
                </a:lnTo>
                <a:lnTo>
                  <a:pt x="10705830" y="10725331"/>
                </a:lnTo>
                <a:lnTo>
                  <a:pt x="0" y="10725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80493" y="1028700"/>
            <a:ext cx="5206732" cy="545881"/>
            <a:chOff x="0" y="0"/>
            <a:chExt cx="6942309" cy="7278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4196" cy="727842"/>
            </a:xfrm>
            <a:custGeom>
              <a:avLst/>
              <a:gdLst/>
              <a:ahLst/>
              <a:cxnLst/>
              <a:rect r="r" b="b" t="t" l="l"/>
              <a:pathLst>
                <a:path h="727842" w="504196">
                  <a:moveTo>
                    <a:pt x="0" y="0"/>
                  </a:moveTo>
                  <a:lnTo>
                    <a:pt x="504196" y="0"/>
                  </a:lnTo>
                  <a:lnTo>
                    <a:pt x="504196" y="727842"/>
                  </a:lnTo>
                  <a:lnTo>
                    <a:pt x="0" y="727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890252" y="77536"/>
              <a:ext cx="6052057" cy="525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7"/>
                </a:lnSpc>
              </a:pPr>
              <a:r>
                <a:rPr lang="en-US" sz="2398" spc="304">
                  <a:solidFill>
                    <a:srgbClr val="F2FFF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EXPENSE SHARING APP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93371" y="7084658"/>
            <a:ext cx="9496055" cy="2327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15"/>
              </a:lnSpc>
            </a:pPr>
            <a:r>
              <a:rPr lang="en-US" sz="8753">
                <a:solidFill>
                  <a:srgbClr val="F2FFF9"/>
                </a:solidFill>
                <a:latin typeface="Open Sauce"/>
                <a:ea typeface="Open Sauce"/>
                <a:cs typeface="Open Sauce"/>
                <a:sym typeface="Open Sauce"/>
              </a:rPr>
              <a:t>TECHNOLOGY &amp;</a:t>
            </a:r>
          </a:p>
          <a:p>
            <a:pPr algn="l" marL="0" indent="0" lvl="0">
              <a:lnSpc>
                <a:spcPts val="9015"/>
              </a:lnSpc>
            </a:pPr>
            <a:r>
              <a:rPr lang="en-US" sz="8753">
                <a:solidFill>
                  <a:srgbClr val="F2FFF9"/>
                </a:solidFill>
                <a:latin typeface="Open Sauce"/>
                <a:ea typeface="Open Sauce"/>
                <a:cs typeface="Open Sauce"/>
                <a:sym typeface="Open Sauce"/>
              </a:rPr>
              <a:t>PROJECT STATUS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011919" y="4587487"/>
            <a:ext cx="3755013" cy="2509161"/>
            <a:chOff x="0" y="0"/>
            <a:chExt cx="1216373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6373" cy="812800"/>
            </a:xfrm>
            <a:custGeom>
              <a:avLst/>
              <a:gdLst/>
              <a:ahLst/>
              <a:cxnLst/>
              <a:rect r="r" b="b" t="t" l="l"/>
              <a:pathLst>
                <a:path h="812800" w="1216373">
                  <a:moveTo>
                    <a:pt x="0" y="0"/>
                  </a:moveTo>
                  <a:lnTo>
                    <a:pt x="1216373" y="0"/>
                  </a:lnTo>
                  <a:lnTo>
                    <a:pt x="121637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0" t="-133" r="0" b="-133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5400000">
            <a:off x="6428520" y="2602438"/>
            <a:ext cx="956414" cy="956414"/>
          </a:xfrm>
          <a:custGeom>
            <a:avLst/>
            <a:gdLst/>
            <a:ahLst/>
            <a:cxnLst/>
            <a:rect r="r" b="b" t="t" l="l"/>
            <a:pathLst>
              <a:path h="956414" w="956414">
                <a:moveTo>
                  <a:pt x="0" y="0"/>
                </a:moveTo>
                <a:lnTo>
                  <a:pt x="956414" y="0"/>
                </a:lnTo>
                <a:lnTo>
                  <a:pt x="956414" y="956414"/>
                </a:lnTo>
                <a:lnTo>
                  <a:pt x="0" y="956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16302886" y="8301886"/>
            <a:ext cx="956414" cy="956414"/>
          </a:xfrm>
          <a:custGeom>
            <a:avLst/>
            <a:gdLst/>
            <a:ahLst/>
            <a:cxnLst/>
            <a:rect r="r" b="b" t="t" l="l"/>
            <a:pathLst>
              <a:path h="956414" w="956414">
                <a:moveTo>
                  <a:pt x="0" y="0"/>
                </a:moveTo>
                <a:lnTo>
                  <a:pt x="956414" y="0"/>
                </a:lnTo>
                <a:lnTo>
                  <a:pt x="956414" y="956414"/>
                </a:lnTo>
                <a:lnTo>
                  <a:pt x="0" y="956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83859" y="4804618"/>
            <a:ext cx="2603366" cy="1037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5"/>
              </a:lnSpc>
            </a:pPr>
            <a:r>
              <a:rPr lang="en-US" sz="2646">
                <a:solidFill>
                  <a:srgbClr val="F2F99E"/>
                </a:solidFill>
                <a:latin typeface="Open Sauce"/>
                <a:ea typeface="Open Sauce"/>
                <a:cs typeface="Open Sauce"/>
                <a:sym typeface="Open Sauce"/>
              </a:rPr>
              <a:t>APPROVED</a:t>
            </a:r>
          </a:p>
          <a:p>
            <a:pPr algn="l" marL="0" indent="0" lvl="0">
              <a:lnSpc>
                <a:spcPts val="2725"/>
              </a:lnSpc>
            </a:pPr>
            <a:r>
              <a:rPr lang="en-US" sz="2646">
                <a:solidFill>
                  <a:srgbClr val="F2F99E"/>
                </a:solidFill>
                <a:latin typeface="Open Sauce"/>
                <a:ea typeface="Open Sauce"/>
                <a:cs typeface="Open Sauce"/>
                <a:sym typeface="Open Sauce"/>
              </a:rPr>
              <a:t>SCOPE &amp;</a:t>
            </a:r>
          </a:p>
          <a:p>
            <a:pPr algn="l" marL="0" indent="0" lvl="0">
              <a:lnSpc>
                <a:spcPts val="2725"/>
              </a:lnSpc>
            </a:pPr>
            <a:r>
              <a:rPr lang="en-US" sz="2646">
                <a:solidFill>
                  <a:srgbClr val="F2F99E"/>
                </a:solidFill>
                <a:latin typeface="Open Sauce"/>
                <a:ea typeface="Open Sauce"/>
                <a:cs typeface="Open Sauce"/>
                <a:sym typeface="Open Sauce"/>
              </a:rPr>
              <a:t>PROGRESS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11919" y="2573863"/>
            <a:ext cx="6329257" cy="982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03"/>
              </a:lnSpc>
            </a:pPr>
            <a:r>
              <a:rPr lang="en-US" sz="1431" spc="60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The project scope has been reviewed and approved. Development is structured around a component-driven frontend approach, with emphasis on responsive layouts, interactive UI elements, and seamless user experience across devices.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89426" y="7446458"/>
            <a:ext cx="6329257" cy="73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03"/>
              </a:lnSpc>
            </a:pPr>
            <a:r>
              <a:rPr lang="en-US" sz="1431" spc="60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Current phase covers interface planning, screen wireframing, and interaction flow mapping. Each module is being designed for clarity, speed, and visual consistency before implementation begins.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33838" y="5678218"/>
            <a:ext cx="4135412" cy="23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3"/>
              </a:lnSpc>
            </a:pPr>
            <a:r>
              <a:rPr lang="en-US" sz="1431" spc="60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Interface Planning — Complete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33838" y="6194828"/>
            <a:ext cx="4135412" cy="23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3"/>
              </a:lnSpc>
            </a:pPr>
            <a:r>
              <a:rPr lang="en-US" sz="1431" spc="60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Screen Design — In Progress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33838" y="6711438"/>
            <a:ext cx="4135412" cy="23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3"/>
              </a:lnSpc>
            </a:pPr>
            <a:r>
              <a:rPr lang="en-US" sz="1431" spc="60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Interaction Flow — In Progress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17886" y="-11069828"/>
            <a:ext cx="12446248" cy="20445582"/>
          </a:xfrm>
          <a:custGeom>
            <a:avLst/>
            <a:gdLst/>
            <a:ahLst/>
            <a:cxnLst/>
            <a:rect r="r" b="b" t="t" l="l"/>
            <a:pathLst>
              <a:path h="20445582" w="12446248">
                <a:moveTo>
                  <a:pt x="0" y="0"/>
                </a:moveTo>
                <a:lnTo>
                  <a:pt x="12446247" y="0"/>
                </a:lnTo>
                <a:lnTo>
                  <a:pt x="12446247" y="20445582"/>
                </a:lnTo>
                <a:lnTo>
                  <a:pt x="0" y="20445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6552779" y="1733874"/>
            <a:ext cx="956414" cy="956414"/>
          </a:xfrm>
          <a:custGeom>
            <a:avLst/>
            <a:gdLst/>
            <a:ahLst/>
            <a:cxnLst/>
            <a:rect r="r" b="b" t="t" l="l"/>
            <a:pathLst>
              <a:path h="956414" w="956414">
                <a:moveTo>
                  <a:pt x="0" y="0"/>
                </a:moveTo>
                <a:lnTo>
                  <a:pt x="956414" y="0"/>
                </a:lnTo>
                <a:lnTo>
                  <a:pt x="956414" y="956414"/>
                </a:lnTo>
                <a:lnTo>
                  <a:pt x="0" y="956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935321" y="1733874"/>
            <a:ext cx="4417358" cy="871153"/>
            <a:chOff x="0" y="0"/>
            <a:chExt cx="5889811" cy="11615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4196" cy="727842"/>
            </a:xfrm>
            <a:custGeom>
              <a:avLst/>
              <a:gdLst/>
              <a:ahLst/>
              <a:cxnLst/>
              <a:rect r="r" b="b" t="t" l="l"/>
              <a:pathLst>
                <a:path h="727842" w="504196">
                  <a:moveTo>
                    <a:pt x="0" y="0"/>
                  </a:moveTo>
                  <a:lnTo>
                    <a:pt x="504196" y="0"/>
                  </a:lnTo>
                  <a:lnTo>
                    <a:pt x="504196" y="727842"/>
                  </a:lnTo>
                  <a:lnTo>
                    <a:pt x="0" y="727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890252" y="77536"/>
              <a:ext cx="4999559" cy="10840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7"/>
                </a:lnSpc>
              </a:pPr>
              <a:r>
                <a:rPr lang="en-US" sz="2398" spc="304">
                  <a:solidFill>
                    <a:srgbClr val="F2FFF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EXPENSE SHARING APP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935321" y="3622229"/>
            <a:ext cx="9617459" cy="432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241"/>
              </a:lnSpc>
            </a:pPr>
            <a:r>
              <a:rPr lang="en-US" sz="10914">
                <a:solidFill>
                  <a:srgbClr val="F2FFF9"/>
                </a:solidFill>
                <a:latin typeface="Open Sauce"/>
                <a:ea typeface="Open Sauce"/>
                <a:cs typeface="Open Sauce"/>
                <a:sym typeface="Open Sauce"/>
              </a:rPr>
              <a:t>FUTURE SCOPE &amp; 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35321" y="8147361"/>
            <a:ext cx="9683697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</a:pPr>
            <a:r>
              <a:rPr lang="en-US" sz="2398" spc="100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Expense sharing made simple, clear, and collaborative.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45608" y="3713432"/>
            <a:ext cx="375499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</a:pPr>
            <a:r>
              <a:rPr lang="en-US" sz="2398" spc="100">
                <a:solidFill>
                  <a:srgbClr val="F2FFF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DAHWsOTHOrA</dc:identifier>
  <dcterms:modified xsi:type="dcterms:W3CDTF">2011-08-01T06:04:30Z</dcterms:modified>
  <cp:revision>1</cp:revision>
</cp:coreProperties>
</file>